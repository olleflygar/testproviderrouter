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8686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400" b="1">
                <a:solidFill>
                  <a:srgbClr val="1F2A44"/>
                </a:solidFill>
                <a:latin typeface="Helvetica Neue"/>
              </a:rPr>
              <a:t>Nygen Router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063240"/>
            <a:ext cx="822960" cy="508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310128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0">
                <a:solidFill>
                  <a:srgbClr val="353C49"/>
                </a:solidFill>
                <a:latin typeface="Helvetica Neue"/>
              </a:rPr>
              <a:t>One native LLM call, routed across the providers that can serve the same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1208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Helvetica Neue"/>
              </a:rPr>
              <a:t>[Presenter]  ·  [Date]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Helvetica Neue"/>
              </a:rPr>
              <a:t>Internal engineering review  ·  10–15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64040" y="192024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DE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353C49"/>
                </a:solidFill>
                <a:latin typeface="Helvetica Neue"/>
              </a:rPr>
              <a:t>Provider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2487168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DE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353C49"/>
                </a:solidFill>
                <a:latin typeface="Helvetica Neue"/>
              </a:rPr>
              <a:t>Provider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64040" y="3054096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DE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353C49"/>
                </a:solidFill>
                <a:latin typeface="Helvetica Neue"/>
              </a:rPr>
              <a:t>Provider 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84632"/>
            <a:ext cx="54864" cy="1828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spc="150">
                <a:solidFill>
                  <a:srgbClr val="2B6CB0"/>
                </a:solidFill>
                <a:latin typeface="Helvetica Neue"/>
              </a:rPr>
              <a:t>THE PROBLEM ·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>
                <a:solidFill>
                  <a:srgbClr val="1F2A44"/>
                </a:solidFill>
                <a:latin typeface="Helvetica Neue"/>
              </a:rPr>
              <a:t>Choosing a model is no longer a one-time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63093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600"/>
              </a:spcAft>
              <a:buFont typeface="Helvetica Neue"/>
              <a:buChar char="–"/>
            </a:pPr>
            <a:r>
              <a:rPr sz="1700" b="0">
                <a:solidFill>
                  <a:srgbClr val="353C49"/>
                </a:solidFill>
                <a:latin typeface="Helvetica Neue"/>
              </a:rPr>
              <a:t>The landscape is vast and shifting: the same model is served by first-party APIs, cloud platforms, aggregators, and resellers</a:t>
            </a:r>
          </a:p>
          <a:p>
            <a:pPr algn="l" marL="228600" indent="-228600">
              <a:lnSpc>
                <a:spcPct val="120000"/>
              </a:lnSpc>
              <a:spcAft>
                <a:spcPts val="1600"/>
              </a:spcAft>
              <a:buFont typeface="Helvetica Neue"/>
              <a:buChar char="–"/>
            </a:pPr>
            <a:r>
              <a:rPr sz="1700" b="0">
                <a:solidFill>
                  <a:srgbClr val="353C49"/>
                </a:solidFill>
                <a:latin typeface="Helvetica Neue"/>
              </a:rPr>
              <a:t>Pricing, capacity, latency, and reliability differ per provider — and keep changing underneath you</a:t>
            </a:r>
          </a:p>
          <a:p>
            <a:pPr algn="l" marL="228600" indent="-228600">
              <a:lnSpc>
                <a:spcPct val="120000"/>
              </a:lnSpc>
              <a:spcAft>
                <a:spcPts val="1600"/>
              </a:spcAft>
              <a:buFont typeface="Helvetica Neue"/>
              <a:buChar char="–"/>
            </a:pPr>
            <a:r>
              <a:rPr sz="1700" b="0">
                <a:solidFill>
                  <a:srgbClr val="353C49"/>
                </a:solidFill>
                <a:latin typeface="Helvetica Neue"/>
              </a:rPr>
              <a:t>The right choice at project start quietly stops being the right choice</a:t>
            </a:r>
          </a:p>
          <a:p>
            <a:pPr algn="l" marL="228600" indent="-228600">
              <a:lnSpc>
                <a:spcPct val="120000"/>
              </a:lnSpc>
              <a:spcAft>
                <a:spcPts val="1600"/>
              </a:spcAft>
              <a:buFont typeface="Helvetica Neue"/>
              <a:buChar char="–"/>
            </a:pPr>
            <a:r>
              <a:rPr sz="1700" b="0">
                <a:solidFill>
                  <a:srgbClr val="353C49"/>
                </a:solidFill>
                <a:latin typeface="Helvetica Neue"/>
              </a:rPr>
              <a:t>And even after choosing, you don't fully control what you're actually served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2103120"/>
            <a:ext cx="2377440" cy="502920"/>
          </a:xfrm>
          <a:prstGeom prst="roundRect">
            <a:avLst>
              <a:gd name="adj" fmla="val 8000"/>
            </a:avLst>
          </a:prstGeom>
          <a:solidFill>
            <a:srgbClr val="E5EEF7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Helvetica Neue"/>
              </a:rPr>
              <a:t>Your model choice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509760" y="2606040"/>
            <a:ext cx="0" cy="36576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452360" y="3063240"/>
            <a:ext cx="2011680" cy="475488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DE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353C49"/>
                </a:solidFill>
                <a:latin typeface="Helvetica Neue"/>
              </a:rPr>
              <a:t>First-party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3063240"/>
            <a:ext cx="2011680" cy="475488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DE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353C49"/>
                </a:solidFill>
                <a:latin typeface="Helvetica Neue"/>
              </a:rPr>
              <a:t>Cloud platform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3685032"/>
            <a:ext cx="2011680" cy="475488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DE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353C49"/>
                </a:solidFill>
                <a:latin typeface="Helvetica Neue"/>
              </a:rPr>
              <a:t>Aggregator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3685032"/>
            <a:ext cx="2011680" cy="475488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DE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353C49"/>
                </a:solidFill>
                <a:latin typeface="Helvetica Neue"/>
              </a:rPr>
              <a:t>Serverless GPU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306824"/>
            <a:ext cx="2011680" cy="475488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DE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353C49"/>
                </a:solidFill>
                <a:latin typeface="Helvetica Neue"/>
              </a:rPr>
              <a:t>Reseller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4306824"/>
            <a:ext cx="2011680" cy="475488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DE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353C49"/>
                </a:solidFill>
                <a:latin typeface="Helvetica Neue"/>
              </a:rPr>
              <a:t>···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5074920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One model — many ways to be served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Nygen Router — internal engineering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5566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84632"/>
            <a:ext cx="54864" cy="1828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spc="150">
                <a:solidFill>
                  <a:srgbClr val="2B6CB0"/>
                </a:solidFill>
                <a:latin typeface="Helvetica Neue"/>
              </a:rPr>
              <a:t>THE PROBLEM ·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>
                <a:solidFill>
                  <a:srgbClr val="1F2A44"/>
                </a:solidFill>
                <a:latin typeface="Helvetica Neue"/>
              </a:rPr>
              <a:t>What you asked for isn't always what you 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534924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73152"/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00" b="1" spc="120">
                <a:solidFill>
                  <a:srgbClr val="2B6CB0"/>
                </a:solidFill>
                <a:latin typeface="Helvetica Neue"/>
              </a:rPr>
              <a:t>FIRST-PARTY PROVIDERS</a:t>
            </a:r>
          </a:p>
          <a:p>
            <a:pPr algn="l" marL="228600" indent="-228600">
              <a:lnSpc>
                <a:spcPct val="118000"/>
              </a:lnSpc>
              <a:spcAft>
                <a:spcPts val="1000"/>
              </a:spcAft>
              <a:buFont typeface="Helvetica Neue"/>
              <a:buChar char="–"/>
            </a:pPr>
            <a:r>
              <a:rPr sz="1450" b="0">
                <a:solidFill>
                  <a:srgbClr val="353C49"/>
                </a:solidFill>
                <a:latin typeface="Helvetica Neue"/>
              </a:rPr>
              <a:t>Hidden routing: a request can be silently served by a different backend or model variant</a:t>
            </a:r>
          </a:p>
          <a:p>
            <a:pPr algn="l" marL="228600" indent="-228600">
              <a:lnSpc>
                <a:spcPct val="118000"/>
              </a:lnSpc>
              <a:spcAft>
                <a:spcPts val="1000"/>
              </a:spcAft>
              <a:buFont typeface="Helvetica Neue"/>
              <a:buChar char="–"/>
            </a:pPr>
            <a:r>
              <a:rPr sz="1450" b="0">
                <a:solidFill>
                  <a:srgbClr val="353C49"/>
                </a:solidFill>
                <a:latin typeface="Helvetica Neue"/>
              </a:rPr>
              <a:t>The model label on the request is not a guarantee of the backend that answers it</a:t>
            </a:r>
          </a:p>
          <a:p>
            <a:pPr algn="l" marL="228600" indent="-228600">
              <a:lnSpc>
                <a:spcPct val="118000"/>
              </a:lnSpc>
              <a:spcAft>
                <a:spcPts val="1000"/>
              </a:spcAft>
              <a:buFont typeface="Helvetica Neue"/>
              <a:buChar char="–"/>
            </a:pPr>
            <a:r>
              <a:rPr sz="1450" b="0">
                <a:solidFill>
                  <a:srgbClr val="353C49"/>
                </a:solidFill>
                <a:latin typeface="Helvetica Neue"/>
              </a:rPr>
              <a:t>Routing behavior changes without notice — there is nothing to pin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57400"/>
            <a:ext cx="534924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73152"/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00" b="1" spc="120">
                <a:solidFill>
                  <a:srgbClr val="2B6CB0"/>
                </a:solidFill>
                <a:latin typeface="Helvetica Neue"/>
              </a:rPr>
              <a:t>THIRD PARTIES &amp; AGGREGATORS</a:t>
            </a:r>
          </a:p>
          <a:p>
            <a:pPr algn="l" marL="228600" indent="-228600">
              <a:lnSpc>
                <a:spcPct val="118000"/>
              </a:lnSpc>
              <a:spcAft>
                <a:spcPts val="1000"/>
              </a:spcAft>
              <a:buFont typeface="Helvetica Neue"/>
              <a:buChar char="–"/>
            </a:pPr>
            <a:r>
              <a:rPr sz="1450" b="0">
                <a:solidFill>
                  <a:srgbClr val="353C49"/>
                </a:solidFill>
                <a:latin typeface="Helvetica Neue"/>
              </a:rPr>
              <a:t>The “same” model may be served quantized or otherwise degraded</a:t>
            </a:r>
          </a:p>
          <a:p>
            <a:pPr algn="l" marL="228600" indent="-228600">
              <a:lnSpc>
                <a:spcPct val="118000"/>
              </a:lnSpc>
              <a:spcAft>
                <a:spcPts val="1000"/>
              </a:spcAft>
              <a:buFont typeface="Helvetica Neue"/>
              <a:buChar char="–"/>
            </a:pPr>
            <a:r>
              <a:rPr sz="1450" b="0">
                <a:solidFill>
                  <a:srgbClr val="353C49"/>
                </a:solidFill>
                <a:latin typeface="Helvetica Neue"/>
              </a:rPr>
              <a:t>Serving configuration — precision, context window, sampling — is rarely disclosed</a:t>
            </a:r>
          </a:p>
          <a:p>
            <a:pPr algn="l" marL="228600" indent="-228600">
              <a:lnSpc>
                <a:spcPct val="118000"/>
              </a:lnSpc>
              <a:spcAft>
                <a:spcPts val="1000"/>
              </a:spcAft>
              <a:buFont typeface="Helvetica Neue"/>
              <a:buChar char="–"/>
            </a:pPr>
            <a:r>
              <a:rPr sz="1450" b="0">
                <a:solidFill>
                  <a:srgbClr val="353C49"/>
                </a:solidFill>
                <a:latin typeface="Helvetica Neue"/>
              </a:rPr>
              <a:t>Quality differences surface only downstream, as vague output regressions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074920"/>
            <a:ext cx="10927080" cy="960120"/>
          </a:xfrm>
          <a:prstGeom prst="roundRect">
            <a:avLst>
              <a:gd name="adj" fmla="val 8000"/>
            </a:avLst>
          </a:prstGeom>
          <a:solidFill>
            <a:srgbClr val="E5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F2A44"/>
                </a:solidFill>
                <a:latin typeface="Helvetica Neue"/>
              </a:rPr>
              <a:t>The core pain: at inference time, you can't be certain of the actual quality — or identity — of the model serving your request.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Nygen Router — internal engineering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5566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84632"/>
            <a:ext cx="54864" cy="1828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spc="150">
                <a:solidFill>
                  <a:srgbClr val="2B6CB0"/>
                </a:solidFill>
                <a:latin typeface="Helvetica Neue"/>
              </a:rP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>
                <a:solidFill>
                  <a:srgbClr val="1F2A44"/>
                </a:solidFill>
                <a:latin typeface="Helvetica Neue"/>
              </a:rPr>
              <a:t>No visibility, no control, and no lightweight way to choose deliberately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37744" bIns="73152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1">
                <a:solidFill>
                  <a:srgbClr val="1F2A44"/>
                </a:solidFill>
                <a:latin typeface="Helvetica Neue"/>
              </a:rPr>
              <a:t>No visibility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>
                <a:solidFill>
                  <a:srgbClr val="353C49"/>
                </a:solidFill>
                <a:latin typeface="Helvetica Neue"/>
              </a:rPr>
              <a:t>Which endpoint actually served the call — and what latency and failure pattern does it really have?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64008" cy="233172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16552" y="214884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37744" bIns="73152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1">
                <a:solidFill>
                  <a:srgbClr val="1F2A44"/>
                </a:solidFill>
                <a:latin typeface="Helvetica Neue"/>
              </a:rPr>
              <a:t>No control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>
                <a:solidFill>
                  <a:srgbClr val="353C49"/>
                </a:solidFill>
                <a:latin typeface="Helvetica Neue"/>
              </a:rPr>
              <a:t>When several providers can serve your model, traffic simply lands wherever the SDK config points.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16552" y="2148840"/>
            <a:ext cx="64008" cy="233172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93024" y="214884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37744" bIns="73152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1">
                <a:solidFill>
                  <a:srgbClr val="1F2A44"/>
                </a:solidFill>
                <a:latin typeface="Helvetica Neue"/>
              </a:rPr>
              <a:t>No lightweight check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>
                <a:solidFill>
                  <a:srgbClr val="353C49"/>
                </a:solidFill>
                <a:latin typeface="Helvetica Neue"/>
              </a:rPr>
              <a:t>Verifying or comparing providers today means bespoke plumbing against each vendor's client, per workflow.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93024" y="2148840"/>
            <a:ext cx="64008" cy="233172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074920"/>
            <a:ext cx="10927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Helvetica Neue"/>
              </a:rPr>
              <a:t>This is the gap </a:t>
            </a:r>
            <a:r>
              <a:rPr sz="2000" b="1">
                <a:solidFill>
                  <a:srgbClr val="2B6CB0"/>
                </a:solidFill>
                <a:latin typeface="Helvetica Neue"/>
              </a:rPr>
              <a:t>Nygen Router</a:t>
            </a:r>
            <a:r>
              <a:rPr sz="2000" b="1">
                <a:solidFill>
                  <a:srgbClr val="1F2A44"/>
                </a:solidFill>
                <a:latin typeface="Helvetica Neue"/>
              </a:rPr>
              <a:t> is built to fill.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Nygen Router — internal engineering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5566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84632"/>
            <a:ext cx="54864" cy="1828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spc="150">
                <a:solidFill>
                  <a:srgbClr val="2B6CB0"/>
                </a:solidFill>
                <a:latin typeface="Helvetica Neue"/>
              </a:rPr>
              <a:t>THE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1">
                <a:solidFill>
                  <a:srgbClr val="1F2A44"/>
                </a:solidFill>
                <a:latin typeface="Helvetica Neue"/>
              </a:rPr>
              <a:t>Nygen Router routes one native LLM call across multiple providers that can serve the same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0">
                <a:solidFill>
                  <a:srgbClr val="6B7280"/>
                </a:solidFill>
                <a:latin typeface="Helvetica Neue"/>
              </a:rPr>
              <a:t>“Your application keeps the provider SDK's request shape and response type; the router selects the provider, falls back when appropriate, and records runtime observations for later routing decisions.”  — README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5468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1">
                <a:solidFill>
                  <a:srgbClr val="1F2A44"/>
                </a:solidFill>
                <a:latin typeface="Helvetica Neue"/>
              </a:rPr>
              <a:t>Native pass-through  —  </a:t>
            </a:r>
            <a:r>
              <a:rPr sz="1550" b="0">
                <a:solidFill>
                  <a:srgbClr val="353C49"/>
                </a:solidFill>
                <a:latin typeface="Helvetica Neue"/>
              </a:rPr>
              <a:t>No shared internal schema. You supply the exact arguments the provider's SDK expects; the winning provider's original SDK response is returned unchanged.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42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1">
                <a:solidFill>
                  <a:srgbClr val="1F2A44"/>
                </a:solidFill>
                <a:latin typeface="Helvetica Neue"/>
              </a:rPr>
              <a:t>Filters, then policy  —  </a:t>
            </a:r>
            <a:r>
              <a:rPr sz="1550" b="0">
                <a:solidFill>
                  <a:srgbClr val="353C49"/>
                </a:solidFill>
                <a:latin typeface="Helvetica Neue"/>
              </a:rPr>
              <a:t>Hard eligibility filters run first; then round-robin, score-based, or sticky ordering — with fallback to the next eligible provider on retryable failures.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29784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1">
                <a:solidFill>
                  <a:srgbClr val="1F2A44"/>
                </a:solidFill>
                <a:latin typeface="Helvetica Neue"/>
              </a:rPr>
              <a:t>An evidence loop  —  </a:t>
            </a:r>
            <a:r>
              <a:rPr sz="1550" b="0">
                <a:solidFill>
                  <a:srgbClr val="353C49"/>
                </a:solidFill>
                <a:latin typeface="Helvetica Neue"/>
              </a:rPr>
              <a:t>Every attempt is recorded (DuckDB or SQLite). Recent success and latency feed the next routing decision; misbehaving providers are benched temporarily.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Nygen Router — internal engineering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5566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84632"/>
            <a:ext cx="54864" cy="1828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spc="150">
                <a:solidFill>
                  <a:srgbClr val="2B6CB0"/>
                </a:solidFill>
                <a:latin typeface="Helvetica Neue"/>
              </a:rPr>
              <a:t>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>
                <a:solidFill>
                  <a:srgbClr val="1F2A44"/>
                </a:solidFill>
                <a:latin typeface="Helvetica Neue"/>
              </a:rPr>
              <a:t>One small, composable piece — not a new framework to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385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spc="120">
                <a:solidFill>
                  <a:srgbClr val="6B7280"/>
                </a:solidFill>
                <a:latin typeface="Helvetica Neue"/>
              </a:rPr>
              <a:t>BEFORE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2004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1F2A44"/>
                </a:solidFill>
                <a:latin typeface="Helvetica Neue"/>
              </a:rPr>
              <a:t>Your workflow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Helvetica Neue"/>
              </a:rPr>
              <a:t>LangChain · Pydantic · plain Python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40480" y="2674620"/>
            <a:ext cx="1280160" cy="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703320" y="23042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Helvetica Neue"/>
              </a:rPr>
              <a:t>SDK 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233172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DE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353C49"/>
                </a:solidFill>
                <a:latin typeface="Helvetica Neue"/>
              </a:rPr>
              <a:t>Provider A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pinned in config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spc="120">
                <a:solidFill>
                  <a:srgbClr val="2B6CB0"/>
                </a:solidFill>
                <a:latin typeface="Helvetica Neue"/>
              </a:rPr>
              <a:t>AFTER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67912"/>
            <a:ext cx="32004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1F2A44"/>
                </a:solidFill>
                <a:latin typeface="Helvetica Neue"/>
              </a:rPr>
              <a:t>Your workflow — unchanged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Helvetica Neue"/>
              </a:rPr>
              <a:t>same prompts, same composition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0" y="4256532"/>
            <a:ext cx="1280160" cy="0"/>
          </a:xfrm>
          <a:prstGeom prst="line">
            <a:avLst/>
          </a:prstGeom>
          <a:ln w="22225">
            <a:solidFill>
              <a:srgbClr val="2B6CB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703320" y="38862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2B6CB0"/>
                </a:solidFill>
                <a:latin typeface="Helvetica Neue"/>
              </a:rPr>
              <a:t>same native call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3867912"/>
            <a:ext cx="2377440" cy="777240"/>
          </a:xfrm>
          <a:prstGeom prst="roundRect">
            <a:avLst>
              <a:gd name="adj" fmla="val 8000"/>
            </a:avLst>
          </a:prstGeom>
          <a:solidFill>
            <a:srgbClr val="E5EEF7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50" b="1">
                <a:solidFill>
                  <a:srgbClr val="1F2A44"/>
                </a:solidFill>
                <a:latin typeface="Helvetica Neue"/>
              </a:rPr>
              <a:t>Nygen Router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B6CB0"/>
                </a:solidFill>
                <a:latin typeface="Consolas"/>
              </a:rPr>
              <a:t>router.invoke(...)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3246120"/>
            <a:ext cx="2148840" cy="566928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DE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353C49"/>
                </a:solidFill>
                <a:latin typeface="Helvetica Neue"/>
              </a:rPr>
              <a:t>Provider A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7543800" y="3529584"/>
            <a:ext cx="1691640" cy="726948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281160" y="4041648"/>
            <a:ext cx="2148840" cy="566928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DE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353C49"/>
                </a:solidFill>
                <a:latin typeface="Helvetica Neue"/>
              </a:rPr>
              <a:t>Provider 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43800" y="4256532"/>
            <a:ext cx="1691640" cy="68580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281160" y="4837176"/>
            <a:ext cx="2148840" cy="566928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DE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353C49"/>
                </a:solidFill>
                <a:latin typeface="Helvetica Neue"/>
              </a:rPr>
              <a:t>Provider 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43800" y="4256532"/>
            <a:ext cx="1691640" cy="864108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66360" y="516636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353C49"/>
                </a:solidFill>
                <a:latin typeface="Helvetica Neue"/>
              </a:rPr>
              <a:t>Routing history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DuckDB / SQLite metrics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355080" y="4645152"/>
            <a:ext cx="0" cy="502920"/>
          </a:xfrm>
          <a:prstGeom prst="line">
            <a:avLst/>
          </a:prstGeom>
          <a:ln w="15875">
            <a:solidFill>
              <a:srgbClr val="6B728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680960" y="534924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Helvetica Neue"/>
              </a:rPr>
              <a:t>observations feed later routing choices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Helvetica Neue"/>
              </a:rPr>
              <a:t>The router replaces only the model-call site. Prompts, workflow composition, and response handling stay exactly where they are.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Nygen Router — internal engineering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5566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84632"/>
            <a:ext cx="54864" cy="1828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spc="150">
                <a:solidFill>
                  <a:srgbClr val="2B6CB0"/>
                </a:solidFill>
                <a:latin typeface="Helvetica Neue"/>
              </a:rPr>
              <a:t>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>
                <a:solidFill>
                  <a:srgbClr val="1F2A44"/>
                </a:solidFill>
                <a:latin typeface="Helvetica Neue"/>
              </a:rPr>
              <a:t>The call stays native to the provider SDK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spc="100">
                <a:solidFill>
                  <a:srgbClr val="6B7280"/>
                </a:solidFill>
                <a:latin typeface="Helvetica Neue"/>
              </a:rPr>
              <a:t>BEFORE — PINNED TO ONE PROVIDER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31136"/>
            <a:ext cx="5486400" cy="251460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2700">
            <a:solidFill>
              <a:srgbClr val="DE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146304" tIns="109728" bIns="109728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A313D"/>
                </a:solidFill>
                <a:latin typeface="Consolas"/>
              </a:rPr>
              <a:t>client = OpenAI(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A313D"/>
                </a:solidFill>
                <a:latin typeface="Consolas"/>
              </a:rPr>
              <a:t>    api_key=os.environ["PROVIDER_A_API_KEY"],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A313D"/>
                </a:solidFill>
                <a:latin typeface="Consolas"/>
              </a:rPr>
              <a:t>    base_url="https://provider-a.example.com/v1",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A313D"/>
                </a:solidFill>
                <a:latin typeface="Consolas"/>
              </a:rPr>
              <a:t>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A313D"/>
                </a:solidFill>
                <a:latin typeface="Consolas"/>
              </a:rPr>
              <a:t>response = client.chat.completions.create(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50" b="1">
                <a:solidFill>
                  <a:srgbClr val="2B6CB0"/>
                </a:solidFill>
                <a:latin typeface="Consolas"/>
              </a:rPr>
              <a:t>    model="provider-a/model-name",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A313D"/>
                </a:solidFill>
                <a:latin typeface="Consolas"/>
              </a:rPr>
              <a:t>    messages=[{"role": "user",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A313D"/>
                </a:solidFill>
                <a:latin typeface="Consolas"/>
              </a:rPr>
              <a:t>      "content": "Write a short product description."}],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A313D"/>
                </a:solidFill>
                <a:latin typeface="Consolas"/>
              </a:rPr>
              <a:t>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A313D"/>
                </a:solidFill>
                <a:latin typeface="Consolas"/>
              </a:rPr>
              <a:t>print(response.choices[0].message.content)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9632" y="192024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spc="100">
                <a:solidFill>
                  <a:srgbClr val="2B6CB0"/>
                </a:solidFill>
                <a:latin typeface="Helvetica Neue"/>
              </a:rPr>
              <a:t>AFTER — ROUTED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2231136"/>
            <a:ext cx="5486400" cy="251460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2700">
            <a:solidFill>
              <a:srgbClr val="DE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146304" tIns="109728" bIns="109728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1">
                <a:solidFill>
                  <a:srgbClr val="2B6CB0"/>
                </a:solidFill>
                <a:latin typeface="Consolas"/>
              </a:rPr>
              <a:t>response = router.invoke([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A313D"/>
                </a:solidFill>
                <a:latin typeface="Consolas"/>
              </a:rPr>
              <a:t>    CallVariant(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A313D"/>
                </a:solidFill>
                <a:latin typeface="Consolas"/>
              </a:rPr>
              <a:t>        protocol=ApiProtocol.OPENAI_CHAT,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A313D"/>
                </a:solidFill>
                <a:latin typeface="Consolas"/>
              </a:rPr>
              <a:t>        operation="chat.completions.create",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A313D"/>
                </a:solidFill>
                <a:latin typeface="Consolas"/>
              </a:rPr>
              <a:t>        call_type=CallType.REGULAR,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A313D"/>
                </a:solidFill>
                <a:latin typeface="Consolas"/>
              </a:rPr>
              <a:t>        arguments={"messages": [{"role": "user",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A313D"/>
                </a:solidFill>
                <a:latin typeface="Consolas"/>
              </a:rPr>
              <a:t>          "content": "Write a short product description."}]},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A313D"/>
                </a:solidFill>
                <a:latin typeface="Consolas"/>
              </a:rPr>
              <a:t>    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A313D"/>
                </a:solidFill>
                <a:latin typeface="Consolas"/>
              </a:rPr>
              <a:t>])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2A313D"/>
                </a:solidFill>
                <a:latin typeface="Consolas"/>
              </a:rPr>
              <a:t>print(response.choices[0].message.content)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983480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1F2A44"/>
                </a:solidFill>
                <a:latin typeface="Consolas"/>
              </a:rPr>
              <a:t>model</a:t>
            </a:r>
            <a:r>
              <a:rPr sz="1350" b="0">
                <a:solidFill>
                  <a:srgbClr val="353C49"/>
                </a:solidFill>
                <a:latin typeface="Helvetica Neue"/>
              </a:rPr>
              <a:t> is deliberately absent from the routed call — the router injects the selected provider's configured model, and the winning provider's original SDK response comes back unchanged.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Helvetica Neue"/>
              </a:rPr>
              <a:t>router is configured once with the provider list (per-provider model, base_url, API-key env var). Snippet from the repo README, whitespace-trimmed.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Nygen Router — internal engineering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84632"/>
            <a:ext cx="54864" cy="1828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spc="150">
                <a:solidFill>
                  <a:srgbClr val="2B6CB0"/>
                </a:solidFill>
                <a:latin typeface="Helvetica Neue"/>
              </a:rPr>
              <a:t>WHY THIS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>
                <a:solidFill>
                  <a:srgbClr val="1F2A44"/>
                </a:solidFill>
                <a:latin typeface="Helvetica Neue"/>
              </a:rPr>
              <a:t>Transparency and control, with a minimal integration surface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303520" cy="17830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1168" bIns="7315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50" b="1">
                <a:solidFill>
                  <a:srgbClr val="1F2A44"/>
                </a:solidFill>
                <a:latin typeface="Helvetica Neue"/>
              </a:rPr>
              <a:t>You see what served the request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>
                <a:solidFill>
                  <a:srgbClr val="353C49"/>
                </a:solidFill>
                <a:latin typeface="Helvetica Neue"/>
              </a:rPr>
              <a:t>Every attempt is recorded with provider identity, outcome, and latency. Failures preserve the provider's verbatim error — no re-wrapping.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64008" cy="17830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2103120"/>
            <a:ext cx="5303520" cy="17830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1168" bIns="7315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50" b="1">
                <a:solidFill>
                  <a:srgbClr val="1F2A44"/>
                </a:solidFill>
                <a:latin typeface="Helvetica Neue"/>
              </a:rPr>
              <a:t>Native SDKs, no lock-in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>
                <a:solidFill>
                  <a:srgbClr val="353C49"/>
                </a:solidFill>
                <a:latin typeface="Helvetica Neue"/>
              </a:rPr>
              <a:t>The official OpenAI SDK against any compatible endpoint. Requests aren't translated, responses aren't wrapped, provider deps stay optional.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103120"/>
            <a:ext cx="64008" cy="17830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4069080"/>
            <a:ext cx="5303520" cy="17830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1168" bIns="7315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50" b="1">
                <a:solidFill>
                  <a:srgbClr val="1F2A44"/>
                </a:solidFill>
                <a:latin typeface="Helvetica Neue"/>
              </a:rPr>
              <a:t>One call site changes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>
                <a:solidFill>
                  <a:srgbClr val="353C49"/>
                </a:solidFill>
                <a:latin typeface="Helvetica Neue"/>
              </a:rPr>
              <a:t>LangChain, Pydantic, and plain-Python workflows keep their own structure; the router owns only the provider call.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069080"/>
            <a:ext cx="64008" cy="17830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4069080"/>
            <a:ext cx="5303520" cy="17830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1168" bIns="7315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50" b="1">
                <a:solidFill>
                  <a:srgbClr val="1F2A44"/>
                </a:solidFill>
                <a:latin typeface="Helvetica Neue"/>
              </a:rPr>
              <a:t>Decisions from evidence, not defaults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>
                <a:solidFill>
                  <a:srgbClr val="353C49"/>
                </a:solidFill>
                <a:latin typeface="Helvetica Neue"/>
              </a:rPr>
              <a:t>Score-based routing on observed success and latency. Misbehaving providers are benched temporarily — visibly, never silently.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4069080"/>
            <a:ext cx="64008" cy="17830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Nygen Router — internal engineering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5566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468880"/>
            <a:ext cx="9445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spc="200">
                <a:solidFill>
                  <a:srgbClr val="2B6CB0"/>
                </a:solidFill>
                <a:latin typeface="Helvetica Neue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880360"/>
            <a:ext cx="944575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1F2A44"/>
                </a:solidFill>
                <a:latin typeface="Helvetica Neue"/>
              </a:rPr>
              <a:t>Switching to a 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87568" y="3794760"/>
            <a:ext cx="822960" cy="4445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4114800"/>
            <a:ext cx="816559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Helvetica Neue"/>
              </a:rPr>
              <a:t>One routed call across live providers — selection, a forced failure and its fallback, and the recorded history behind the next choice.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Nygen Router — internal engineering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84632"/>
            <a:ext cx="54864" cy="1828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spc="150">
                <a:solidFill>
                  <a:srgbClr val="2B6CB0"/>
                </a:solidFill>
                <a:latin typeface="Helvetica Neue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>
                <a:solidFill>
                  <a:srgbClr val="1F2A44"/>
                </a:solidFill>
                <a:latin typeface="Helvetica Neue"/>
              </a:rPr>
              <a:t>Choose your provider deliberately — and know what actually served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>
                <a:solidFill>
                  <a:srgbClr val="353C49"/>
                </a:solidFill>
                <a:latin typeface="Helvetica Neue"/>
              </a:rPr>
              <a:t>Nygen Router: one native call, routed across the providers that can serve your model, with every attempt observed and recorded.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1F2A44"/>
                </a:solidFill>
                <a:latin typeface="Helvetica Neue"/>
              </a:rPr>
              <a:t>Read  —  </a:t>
            </a:r>
            <a:r>
              <a:rPr sz="1550" b="0">
                <a:solidFill>
                  <a:srgbClr val="353C49"/>
                </a:solidFill>
                <a:latin typeface="Helvetica Neue"/>
              </a:rPr>
              <a:t>README.md for integration; ProviderRouter/README.md for routing policies, health, and metrics in depth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1F2A44"/>
                </a:solidFill>
                <a:latin typeface="Helvetica Neue"/>
              </a:rPr>
              <a:t>Run  —  </a:t>
            </a:r>
            <a:r>
              <a:rPr sz="1550" b="0">
                <a:solidFill>
                  <a:srgbClr val="353C49"/>
                </a:solidFill>
                <a:latin typeface="Helvetica Neue"/>
              </a:rPr>
              <a:t>WorkflowTests/ contains runnable LangChain and Pydantic examples against live providers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1F2A44"/>
                </a:solidFill>
                <a:latin typeface="Helvetica Neue"/>
              </a:rPr>
              <a:t>Discuss  —  </a:t>
            </a:r>
            <a:r>
              <a:rPr sz="1550" b="0">
                <a:solidFill>
                  <a:srgbClr val="353C49"/>
                </a:solidFill>
                <a:latin typeface="Helvetica Neue"/>
              </a:rPr>
              <a:t>Which workflow pilots it first, which providers we onboard, and what “provider quality” should mean for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[Repo link]  ·  [Presenter contact]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Nygen Router — internal engineering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Nygen Router — Engineering Overview</dc:title>
  <dc:subject/>
  <dc:creator>[Presenter]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